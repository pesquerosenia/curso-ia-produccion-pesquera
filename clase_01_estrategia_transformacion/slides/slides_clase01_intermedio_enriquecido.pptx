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3" r:id="rId14"/>
    <p:sldId id="264" r:id="rId15"/>
    <p:sldId id="265" r:id="rId16"/>
    <p:sldId id="266" r:id="rId17"/>
    <p:sldId id="267" r:id="rId18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8" name="Picture 7" descr="cover_b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4041648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E7C14B"/>
                </a:solidFill>
                <a:latin typeface="Segoe UI"/>
              </a:rPr>
              <a:t>CLASE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389120"/>
            <a:ext cx="9509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Segoe UI"/>
              </a:rPr>
              <a:t>Estrategia y Transformación Digital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62356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0">
                <a:solidFill>
                  <a:srgbClr val="DDE9F0"/>
                </a:solidFill>
                <a:latin typeface="Segoe UI"/>
              </a:rPr>
              <a:t>Clase 1 · Nivel INTERMEDIO — El marco estratégico del sector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08192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FFFFFF"/>
                </a:solidFill>
                <a:latin typeface="Segoe UI"/>
              </a:rPr>
              <a:t>Docentes: Ariel Giamportone, Soraya Corvalán, María Ana Reussi, Soledad Gurisich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55664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DE9F0"/>
                </a:solidFill>
                <a:latin typeface="Segoe UI"/>
              </a:rPr>
              <a:t>Inteligencia Artificial Aplicada a la Produccion Pesquera  |  UTN FRCh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C14B"/>
                </a:solidFill>
                <a:latin typeface="Calibri"/>
              </a:rPr>
              <a:t>AGENDA DE LA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02920"/>
            <a:ext cx="112745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Lo que vamos a ver hoy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411480" cy="41148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El sector pesquero argentino en cifras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85916" y="1554480"/>
            <a:ext cx="411480" cy="41148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85916" y="15270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88836" y="1508760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Industria 4.0 y el mar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212848"/>
            <a:ext cx="411480" cy="41148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18541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167128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Smart Fisheries: los 4 pilares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5916" y="2212848"/>
            <a:ext cx="411480" cy="41148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85916" y="218541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88836" y="2167128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Casos de uso de IA (5)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871216"/>
            <a:ext cx="411480" cy="41148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843784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825496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La brecha tecnológica argentina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85916" y="2871216"/>
            <a:ext cx="411480" cy="41148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85916" y="2843784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88836" y="2825496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Antecedentes: CONIPE y PesquerosEnIA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CARACTERÍSTICAS ÚNICAS DEL SECTOR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Industria 4.0 llega al mar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IoT, Big Data, IA, automatización, conectividad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Recurso biológico variable → predicción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Ambiente hostil → monitoreo remoto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Regulación estricta → automatización de reportes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EFICIENCIA, SOSTENIBILIDAD, TRAZABILIDAD, CUMPLIMIENTO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Smart Fisheries: 4 pilares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Datos (sensores, AIS, satélite, partes)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Análisis (ML/IA, dashboards en tiempo real)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Decisión (ruta, zona, velocidad, parada)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Acción (capitán, planta, regulador)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BARRERAS DEL SECTOR ARGENTINO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La brecha tecnológica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08760"/>
            <a:ext cx="11457432" cy="969264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545336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Barrera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59068" y="1545336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Descripción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478024"/>
            <a:ext cx="11457432" cy="96926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2514600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467F"/>
                </a:solidFill>
                <a:latin typeface="Calibri"/>
              </a:rPr>
              <a:t>Formación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59068" y="2514600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Faltan competencias en datos/IA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447288"/>
            <a:ext cx="11457432" cy="9692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3483864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467F"/>
                </a:solidFill>
                <a:latin typeface="Calibri"/>
              </a:rPr>
              <a:t>Conectividad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59068" y="3483864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Cobertura limitada en alta mar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416552"/>
            <a:ext cx="11457432" cy="96926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4453128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467F"/>
                </a:solidFill>
                <a:latin typeface="Calibri"/>
              </a:rPr>
              <a:t>Inversión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9068" y="4453128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Costo percibido alto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385816"/>
            <a:ext cx="11457432" cy="9692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5422392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467F"/>
                </a:solidFill>
                <a:latin typeface="Calibri"/>
              </a:rPr>
              <a:t>Cultura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59068" y="5422392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Resistencia al cambio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6336792"/>
            <a:ext cx="11457432" cy="36576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EL SECTOR SE MUEVE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Señales positivas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Pampa Azul: economía del conocimiento marina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Starlink/OneWeb: conectividad a bordo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INIDEP: datos históricos valiosos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PesquerosEnIA: demanda de capacitación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714232" y="0"/>
            <a:ext cx="3474720" cy="6858000"/>
          </a:xfrm>
          <a:prstGeom prst="rect">
            <a:avLst/>
          </a:prstGeom>
          <a:solidFill>
            <a:srgbClr val="003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_utn_frch_neg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"/>
            <a:ext cx="1366857" cy="731520"/>
          </a:xfrm>
          <a:prstGeom prst="rect">
            <a:avLst/>
          </a:prstGeom>
        </p:spPr>
      </p:pic>
      <p:pic>
        <p:nvPicPr>
          <p:cNvPr id="7" name="Picture 6" descr="logo_pesqueros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0" y="201168"/>
            <a:ext cx="1981200" cy="594360"/>
          </a:xfrm>
          <a:prstGeom prst="rect">
            <a:avLst/>
          </a:prstGeom>
        </p:spPr>
      </p:pic>
      <p:pic>
        <p:nvPicPr>
          <p:cNvPr id="8" name="Picture 7" descr="logo_ariel_symbo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0" y="201168"/>
            <a:ext cx="1981200" cy="5943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65760" y="1078992"/>
            <a:ext cx="8348472" cy="32004"/>
          </a:xfrm>
          <a:prstGeom prst="rect">
            <a:avLst/>
          </a:prstGeom>
          <a:solidFill>
            <a:srgbClr val="0099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280160"/>
            <a:ext cx="807415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IA con datos pesqueros, para problemas pesqueros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880360"/>
            <a:ext cx="80741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AC8F0"/>
                </a:solidFill>
                <a:latin typeface="Calibri"/>
              </a:rPr>
              <a:t>en español y desde el sector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703320"/>
            <a:ext cx="5029200" cy="3200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379476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EE1FF"/>
                </a:solidFill>
                <a:latin typeface="Consolas"/>
              </a:rPr>
              <a:t>github.com/PesquerosEnIA/curso-ia-produccion-pesquera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434840"/>
            <a:ext cx="7772400" cy="822960"/>
          </a:xfrm>
          <a:prstGeom prst="rect">
            <a:avLst/>
          </a:prstGeom>
          <a:solidFill>
            <a:srgbClr val="0064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4480560"/>
            <a:ext cx="749807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Clase 4: Datos y Sensores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88552" y="201168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4D7FF"/>
                </a:solidFill>
                <a:latin typeface="Consolas"/>
              </a:rPr>
              <a:t>github.com/
PesquerosEnIA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382512"/>
            <a:ext cx="80741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A454D"/>
                </a:solidFill>
                <a:latin typeface="Calibri"/>
              </a:rPr>
              <a:t>UTN FRCh  |  PesquerosEnIA  | 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1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1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1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1_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1_d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