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0E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806440"/>
            <a:ext cx="1218895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806440"/>
            <a:ext cx="12188952" cy="960120"/>
          </a:xfrm>
          <a:prstGeom prst="rect">
            <a:avLst/>
          </a:prstGeom>
          <a:solidFill>
            <a:srgbClr val="1D7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9" name="Picture 8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28600"/>
            <a:ext cx="1981200" cy="594360"/>
          </a:xfrm>
          <a:prstGeom prst="rect">
            <a:avLst/>
          </a:prstGeom>
        </p:spPr>
      </p:pic>
      <p:pic>
        <p:nvPicPr>
          <p:cNvPr id="10" name="Picture 9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72" y="228600"/>
            <a:ext cx="1981200" cy="5943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078992"/>
            <a:ext cx="1145743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34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9CC"/>
                </a:solidFill>
                <a:latin typeface="Calibri"/>
              </a:rPr>
              <a:t>CLASE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74340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Datos y Sensores del Dominio Pesquero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94760"/>
            <a:ext cx="7434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99CC"/>
                </a:solidFill>
                <a:latin typeface="Calibri"/>
              </a:rPr>
              <a:t>Clase 4 — De la señal del sensor al insight para la pesca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4D2F0"/>
                </a:solidFill>
                <a:latin typeface="Calibri"/>
              </a:rPr>
              <a:t>IA · Pesca ·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6BEE6"/>
                </a:solidFill>
                <a:latin typeface="Calibri"/>
              </a:rPr>
              <a:t>UTN FRCh + 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897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Docentes: Ariel Giamportone · Soraya Corvalán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30936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EDCFA"/>
                </a:solidFill>
                <a:latin typeface="Calibr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Datos que genera un barco pesquero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Variables oceanográficas clave: SST, clorofila, corrientes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AIS y VMS: el rastro digital de la flota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Global Fishing 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Plataformas de datos abiertos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Formatos: CSV, NetCDF, GeoJSON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9584"/>
            <a:ext cx="411480" cy="4114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02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483864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Notebook práctico: exploración de datos de la PCA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¿QUÉ DATOS GENERA UN BARCO PESQUERO EN UN DÍA?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 arrastrero genera datos 24/7 — ¿cuántos explotamos?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60579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Sensor /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Dato generado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Frecuencia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14550"/>
            <a:ext cx="11457432" cy="60579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15112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GPS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15112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Posición (lat/lon)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15112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Continua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20340"/>
            <a:ext cx="11457432" cy="6057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75691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275691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Posición + velocidad + identidad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275691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Cada 2-10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26130"/>
            <a:ext cx="11457432" cy="60579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36270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VMS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336270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Posición satelital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336270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Cada 30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11457432" cy="6057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96849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Ecosonda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396849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Profundidad + cardúmenes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396849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Continua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37710"/>
            <a:ext cx="11457432" cy="60579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57428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Sensor SST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9496" y="457428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Temperatura del agua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457428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Cada pocos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43500"/>
            <a:ext cx="11457432" cy="6057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18007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Balanza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9496" y="518007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Peso captura por lance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8640" y="518007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Por lance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49290"/>
            <a:ext cx="11457432" cy="60579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78586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Parte de pesca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9496" y="578586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Especie, kg, zona, hora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8640" y="5785866"/>
            <a:ext cx="3727704" cy="53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Por lance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LOS DATOS EXTERNOS QUE TAMBIÉN IMPORTAN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contexto ambiental: datos que no vienen del barco pero son críticos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Imágenes satelitales: SST, clorofila-a, nivel del mar (cada 1-3 días, gratis)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Modelos oceanográficos: corrientes, temperatura subsuperficial, salinidad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Meteorología: viento, altura de ola, visibilidad (seguridad + eficiencia)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Regulatorios: cuotas por especie, áreas de veda, límites de ZEE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Biológicos (INIDEP): índices de abundancia, campañas de evaluación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predicción de zonas de pesca (Clase 6) integra exactamente estos datos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 el historial de capturas del barco.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TEMPERATURA SUPERFICIAL DEL MAR (SST)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SST — el termómetro que guía la pesca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Cada especie tiene su rango térmico preferencial: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Merluza hubbsi: 4–12°C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Calamar illex: 8–16°C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Langostino patagónico: 6–14°C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Los frentes oceánicos (mezcla Malvinas-Brasil) = alta productividad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Resolución disponible: hasta ~1 km por día (satélites MODIS, Sentinel)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Fuentes gratuitas: Copernicus Marine Service · NOAA CoastWatch · NASA Earthdata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CLOROFILA-A: PRODUCTIVIDAD DEL 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Verde en el mar = alimento para los peces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Clorofila-a = fitoplancton = base de la cadena trófica marina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Alta clorofila → zooplancton → anchoíta/juveniles → merluza/calamar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Floración de primavera (sep-nov): explosión de productividad en golfos patagónicos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Rango en la PCA: 0.1 – 30 mg/m³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Combinación poderosa: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SST en rango óptimo + alta clorofila = zona de alta probabilidad de captura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CORRIENTES OCEÁNICAS DE LA PLATAFORMA CONTINENTAL ARGENTINA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Malvinas vs. Brasil — el gran motor de la productividad pesquera argentina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Corriente de Malvinas: fría (~6°C), rica en nutrientes, fluye al norte por el talud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Corriente de Brasil: cálida (~22°C), pobre en nutrientes, fluye al sur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Frente de confluencia: ~38-40°S — zona de máxima diversidad y captura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frente varía estacionalmente → cambia la distribución de recursos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Este es el 'corazón oceanográfico' de la pesquería argentina.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Los modelos de ML van a aprender estos patrones.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AIS: EL PASAPORTE DIGITAL DEL BARCO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AIS — cada barco tiene una huella en el 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MMSI: identificador único de 9 dígitos (Argentina: comienza con 701)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Ejemplo de mensaje AIS: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MMSI: 701234567  |  Nombre: BP PATAGÓNICO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Lat: -43.582°  |  Lon: -60.213°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SOG: 3.2 kn  ← velocidad lenta → probablemente pescando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Timestamp: 2026-01-15 03:42:17 UTC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SOG &lt; 4 kn → probable arrastre (pescando)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SOG &gt; 7 kn → navegación de ida/vuelta a puerto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Global Fishing Watch usa esta lógica (+ML) para clasificar 70.000 barcos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AIS VS VMS: COMPARACIÓN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VMS — el sistema de control obligatorio para la flota argentina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Aspecto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Obligatoriedad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Buques ≥300 GT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Buques pesqueros ≥28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Públicos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Reservados (regulatorio)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Frecuencia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2-10 segundos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30-60 minutos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Propósito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Seguridad náutica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Control pesquero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Gestión Argentina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9496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Prefectura / ITU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Subsecretaría de Pesca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GLOBAL FISHING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Ver el mar como nunca 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Monitorea ~70.000 barcos en tiempo real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50 TB de datos AIS procesados por día con modelos de ML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Clasifica: pesca · navegación · transbordo · buques oscuros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Precisión &gt;95% en clasificación de actividad pesquera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 descargables para investigación (registro gratuito)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Detecta pesca ilegal en zonas protegidas y vedas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Para Argentina: permite ver actividad de flota extranjera en límites de ZEE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y el esfuerzo pesquero histórico por zona.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PLATAFORMAS DE DATOS ABIERTOS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sector tiene más datos gratuitos de los que imaginamos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692331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Qué tiene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01091"/>
            <a:ext cx="11457432" cy="69233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237667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Copernicus Marine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237667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SST, clorofila, corrientes, nivel del 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237667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Registro gratuito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93422"/>
            <a:ext cx="11457432" cy="692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929998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NOAA ERDDAP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2929998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SST, anomalías, temp. subsuperficial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2929998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Sin registro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85754"/>
            <a:ext cx="11457432" cy="69233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622330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INIDEP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3622330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Capturas ARG, evaluaciones de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3622330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Web pública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78085"/>
            <a:ext cx="11457432" cy="692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314661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Global Fishing Watch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4314661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AIS, esfuerzo pesquero, rutas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4314661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Registro gratuito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70417"/>
            <a:ext cx="11457432" cy="69233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006993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NASA Earthdata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9496" y="5006993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MODIS, VIIRS, datos de satélite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5006993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Registro gratuito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62748"/>
            <a:ext cx="11457432" cy="692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699324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GEBCO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9496" y="5699324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Batimetría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8640" y="5699324"/>
            <a:ext cx="3727704" cy="61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Sin registro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FORMATOS DE DATOS: ¿QUÉ VAMOS A ENCONTRAR?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CSV, NetCDF, GeoJSON — el lenguaje de los datos oceánicos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Cuándo aparece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CSV /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Tabular, filas y columnas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Partes de pesca, producción planta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NetCDF (.nc)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Cubo 3D: lat × lon × tiempo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SST, clorofila, corrientes satelitales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GeoTIFF (.tif)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Imagen georreferenciada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SAR, imágenes satelitales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Shapefile (.shp)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Vectores geográficos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Áreas de veda, límites ZEE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7C"/>
                </a:solidFill>
                <a:latin typeface="Calibri"/>
              </a:rPr>
              <a:t>JSON / GeoJSON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9496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Texto estructurado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APIs de GFW, NOAA; datos AIS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NOTEBOOK PRÁCTICO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Ahora vamos a hacerlo nosotros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Notebook: clase04_exploracion_datos_oceanograficos.ipynb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Ejecutar en: Google Colab (sin instalación requerida)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Link: github.com/PesquerosEnIA/curso-ia-produccion-pesquera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 que vamos a hacer: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1. Dataset de SST realista de la PCA (lat -55° a -34°, lon -65° a -44°)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2. Visualizar SST media anual y variación estacional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3. Analizar clorofila-a y frentes productivos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4. Explorar datos AIS simulados de un barco pesquero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5. Cruzar datos de captura con variables ambientales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MAPA DE SST — RESULTADO DEL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Plataforma Continental Argentina desde el satélite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[Mapa generado por el notebook — SST media anual, lat -55° a -34°]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Gradiente latitudinal claro: norte ~18°C → sur ~5°C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Zona de frente (mezcla Malvinas-Brasil) visible en ~40°S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Baja SST en invierno austral (jun-ago) → calamar migra al norte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Alta SST en verano → langostino se activa en los golfos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VELOCIDAD AIS COMO PROXY DE ACTIVIDAD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¿Cómo saber si un barco está pescando sin verlo?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[Gráfico del notebook — trayectoria del barco coloreada por velocidad]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Regla empírica para arrastrero: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Velocidad &lt; 4 kn → probable arrastre (pescando)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Velocidad 4-7 kn → transitando entre lances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Velocidad &gt; 7 kn → navegación de ida/vuelta a puerto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Este criterio es la base del algoritmo de detección de pesca de Global Fishing Watch.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CAPTURA VS SST: EL PATRÓN QUE BUSCAMOS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¿A qué temperatura pesca más la merluza?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[Scatter plot del notebook — SST vs toneladas de captura]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scatter muestra una relación no lineal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Pico de captura en el rango 8–12°C → consistente con biología de merluza hubbsi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Por debajo de 5°C o encima de 14°C → capturas significativamente menores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Esta relación es la que el modelo de ML de la Clase 6 va a aprender.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Los datos explorados hoy serán los predictores del modelo de mañana.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SÍNTESIS: FLUJO DE TRABAJO CON DATOS PESQUEROS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 los datos crudos al insight — el workflow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Fuente de datos   →  Acceso          →  Procesamiento  →  Análisis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Copernicus (SST)  →  API Python      →  xarray/pandas  →  EDA + viz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NOAA (batimetría) →  ERDDAP          →  pandas         →  correlación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Partes de pesca   →  CSV             →  pandas         →  patrones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AIS / VMS         →  GFW API         →  geopandas      →  actividad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Todos los pasos son realizables en Python + Jupyter.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notebook completo de hoy está disponible en el repositorio.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E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 que aprendimos · Lo que viene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9CC"/>
                </a:solidFill>
                <a:latin typeface="Calibri"/>
              </a:rPr>
              <a:t>Clase 5: Arquitectura de Datos y Big Data · Docente: Damian Adolfo Giacone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187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Para la próxima: explorá globalfishingwatch.org/map — seleccioná el Mar Argentino.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F0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