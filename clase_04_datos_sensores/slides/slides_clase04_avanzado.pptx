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074152" y="0"/>
            <a:ext cx="4114800" cy="6858000"/>
          </a:xfrm>
          <a:prstGeom prst="rect">
            <a:avLst/>
          </a:prstGeom>
          <a:solidFill>
            <a:srgbClr val="78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806440"/>
            <a:ext cx="12188952" cy="9601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5806440"/>
            <a:ext cx="12188952" cy="960120"/>
          </a:xfrm>
          <a:prstGeom prst="rect">
            <a:avLst/>
          </a:prstGeom>
          <a:solidFill>
            <a:srgbClr val="874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9" name="Picture 8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7112" y="228600"/>
            <a:ext cx="1981200" cy="594360"/>
          </a:xfrm>
          <a:prstGeom prst="rect">
            <a:avLst/>
          </a:prstGeom>
        </p:spPr>
      </p:pic>
      <p:pic>
        <p:nvPicPr>
          <p:cNvPr id="10" name="Picture 9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672" y="228600"/>
            <a:ext cx="1981200" cy="59436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65760" y="1078992"/>
            <a:ext cx="1145743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23444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99CC"/>
                </a:solidFill>
                <a:latin typeface="Calibri"/>
              </a:rPr>
              <a:t>CLASE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1600200"/>
            <a:ext cx="743407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Datos y Sensores del Dominio Pesquero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94760"/>
            <a:ext cx="74340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0099CC"/>
                </a:solidFill>
                <a:latin typeface="Calibri"/>
              </a:rPr>
              <a:t>Clase 4 · Nivel AVANZADO — Datos reales, frentes e ingeniería de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28600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4D2F0"/>
                </a:solidFill>
                <a:latin typeface="Calibri"/>
              </a:rPr>
              <a:t>IA · Pesca · Datos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472" y="310896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6BEE6"/>
                </a:solidFill>
                <a:latin typeface="Calibri"/>
              </a:rPr>
              <a:t>UTN FRCh + 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897880"/>
            <a:ext cx="8229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Docentes: ['Ariel Giamportone', 'Soraya Corvalán']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6309360"/>
            <a:ext cx="1136599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EDCFA"/>
                </a:solidFill>
                <a:latin typeface="Calibr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9CC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Ingesta de datos reales (Copernicus, NOAA) +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NetCDF y xarray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Detección de frentes térmicos (gradiente de SST)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Feature engineering ambiental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Calidad de datos y sesgos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Desafío integrador: frente ↔ esfuerzo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ESTA CLASE ES LA CAPA DE DATOS QUE ALIMENTA EL MODELADO (CLASE 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Del dato crudo al feature: el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Fuente real → ingesta → limpieza → features → modelo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Patrón robusto: fuente real (credenciales) → fallback sintético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Reproducible en cualquier entorno, incluido Colab sin configurar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DOS FUENTES COMPLEMENTARIAS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Copernicus vs NOAA ERDDAP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Copernicus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NOAA ERDDAP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Registro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Sí (gratis)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No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Resolución SST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5–9 km (L4)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hasta 1 km (MUR)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Acceso Python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copernicusmarine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erddapy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Fuerte 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Series L4 sin gaps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Alta resolución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|∇SST| = SQRT(GRAD_LAT² + GRAD_LON²) → UMBRAL P90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Frentes térmicos por gradiente de SST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Los frentes concentran nutrientes y recursos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Convergencia Malvinas-Brasil → agregación de merluza/calamar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frente es un PREDICTOR de zona, no solo un fenómeno físico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En datos reales: suavizar antes de derivar (ruido de píxel)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LAS CRUDAS RARA VEZ SON LA MEJOR ENTRADA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Feature engineering ambiental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9496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Definición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68640" y="1545336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Aporta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sst_anomalia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9496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SST − media/clima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8640" y="2514600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Aísla lo inusual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dist_optimo_termico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9496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|SST − 10 °C|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8640" y="3483864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Relación no lineal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indice_habitat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9496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f(SST) × f(clorofila)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68640" y="4453128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Combina 2 señales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62D37"/>
                </a:solidFill>
                <a:latin typeface="Calibri"/>
              </a:rPr>
              <a:t>intensidad_frente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9496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|∇SST| en la marea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8640" y="5422392"/>
            <a:ext cx="3727704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Proxy de frente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UN MODELO ES TAN BUENO COMO SUS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Calidad de datos y sesgos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Dark vessels: AIS off → GFW subestima; corregir con AIS + SAR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Gaps por nubosidad → productos L4 / gap-filling (DINEOF)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Sesgo de esfuerzo: los partes dicen DÓNDE se pescó, no dónde HAY recurso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Alinear captura con la variable ambiental del mismo día y celda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9CC"/>
                </a:solidFill>
                <a:latin typeface="Calibri"/>
              </a:rPr>
              <a:t>ENTREGABLE: NOTEBOOK REPRODUCIBLE + FIGURA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Desafío integrador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SST real 1 semana (Copernicus) → anomalía vs climatología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Frente diario por gradiente → cómo migra el frente Malvinas-Brasil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Cruzar con fishing effort de GFW (misma zona/fecha)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¿El esfuerzo sigue al frente o hay retardo? Implicancias para Clase 6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99CC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962D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78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La capa de datos define el techo del modelo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0099CC"/>
                </a:solidFill>
                <a:latin typeface="Calibri"/>
              </a:rPr>
              <a:t>Datos y Sensores — Nivel Avanzado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824B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Clase 6: ML y modelos predictivos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C8F0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