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4041648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7C14B"/>
                </a:solidFill>
                <a:latin typeface="Segoe UI"/>
              </a:rPr>
              <a:t>CLASE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9509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Segoe UI"/>
              </a:rPr>
              <a:t>Datos y Sensores del Dominio Pesquero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62356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>
                <a:solidFill>
                  <a:srgbClr val="DDE9F0"/>
                </a:solidFill>
                <a:latin typeface="Segoe UI"/>
              </a:rPr>
              <a:t>Clase 4 · Nivel AVANZADO — Datos reales, frentes e ingeniería de 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08192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Segoe UI"/>
              </a:rPr>
              <a:t>Docentes: Ariel Giamportone, Soraya Corvalán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55664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DE9F0"/>
                </a:solidFill>
                <a:latin typeface="Segoe UI"/>
              </a:rPr>
              <a:t>Inteligencia Artificial Aplicada a la Produccion Pesquera  |  UTN FRCh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C14B"/>
                </a:solidFill>
                <a:latin typeface="Calibri"/>
              </a:rPr>
              <a:t>AGENDA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02920"/>
            <a:ext cx="112745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Lo que vamos a ver hoy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411480" cy="41148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Ingesta de datos reales (Copernicus, NOAA) + fallback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5916" y="1554480"/>
            <a:ext cx="411480" cy="41148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85916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88836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NetCDF y xarray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212848"/>
            <a:ext cx="411480" cy="41148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Detección de frentes térmicos (gradiente de SST)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5916" y="2212848"/>
            <a:ext cx="411480" cy="41148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5916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88836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Feature engineering ambiental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871216"/>
            <a:ext cx="411480" cy="41148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843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825496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Calidad de datos y sesgos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85916" y="2871216"/>
            <a:ext cx="411480" cy="41148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5916" y="2843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88836" y="2825496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Desafío integrador: frente ↔ esfuerzo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ESTA CLASE ES LA CAPA DE DATOS QUE ALIMENTA EL MODELADO (CLASE 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Del dato crudo al feature: el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Fuente real → ingesta → limpieza → features → modelo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Patrón robusto: fuente real (credenciales) → fallback sintético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Reproducible en cualquier entorno, incluido Colab sin configurar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DOS FUENTES COMPLEMENTARIAS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Copernicus vs NOAA ERDDAP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1457432" cy="969264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45336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9496" y="1545336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Copernicus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68640" y="1545336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NOAA ERDDAP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78024"/>
            <a:ext cx="11457432" cy="96926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2514600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2D37"/>
                </a:solidFill>
                <a:latin typeface="Calibri"/>
              </a:rPr>
              <a:t>Registro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9496" y="2514600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Sí (gratis)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68640" y="2514600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No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447288"/>
            <a:ext cx="11457432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483864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2D37"/>
                </a:solidFill>
                <a:latin typeface="Calibri"/>
              </a:rPr>
              <a:t>Resolución SST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9496" y="3483864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5–9 km (L4)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8640" y="3483864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hasta 1 km (MUR)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416552"/>
            <a:ext cx="11457432" cy="96926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4453128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2D37"/>
                </a:solidFill>
                <a:latin typeface="Calibri"/>
              </a:rPr>
              <a:t>Acceso Python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9496" y="4453128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copernicusmarine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68640" y="4453128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erddapy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385816"/>
            <a:ext cx="11457432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5422392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2D37"/>
                </a:solidFill>
                <a:latin typeface="Calibri"/>
              </a:rPr>
              <a:t>Fuerte 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9496" y="5422392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Series L4 sin gaps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68640" y="5422392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Alta resolución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336792"/>
            <a:ext cx="11457432" cy="36576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|∇SST| = SQRT(GRAD_LAT² + GRAD_LON²) → UMBRAL P90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Frentes térmicos por gradiente de SST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Los frentes concentran nutrientes y recursos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Convergencia Malvinas-Brasil → agregación de merluza/calamar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El frente es un PREDICTOR de zona, no solo un fenómeno físico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En datos reales: suavizar antes de derivar (ruido de píxel)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LAS CRUDAS RARA VEZ SON LA MEJOR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Feature engineering ambiental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1457432" cy="969264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45336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Feature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9496" y="1545336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Definición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68640" y="1545336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Aporta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78024"/>
            <a:ext cx="11457432" cy="96926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2514600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2D37"/>
                </a:solidFill>
                <a:latin typeface="Calibri"/>
              </a:rPr>
              <a:t>sst_anomalia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9496" y="2514600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SST − media/clima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68640" y="2514600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Aísla lo inusual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447288"/>
            <a:ext cx="11457432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483864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2D37"/>
                </a:solidFill>
                <a:latin typeface="Calibri"/>
              </a:rPr>
              <a:t>dist_optimo_termico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9496" y="3483864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|SST − 10 °C|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8640" y="3483864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Relación no lineal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416552"/>
            <a:ext cx="11457432" cy="96926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4453128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2D37"/>
                </a:solidFill>
                <a:latin typeface="Calibri"/>
              </a:rPr>
              <a:t>indice_habitat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9496" y="4453128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f(SST) × f(clorofila)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68640" y="4453128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Combina 2 señales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385816"/>
            <a:ext cx="11457432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5422392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2D37"/>
                </a:solidFill>
                <a:latin typeface="Calibri"/>
              </a:rPr>
              <a:t>intensidad_frente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9496" y="5422392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|∇SST| en la marea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68640" y="5422392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Proxy de frente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336792"/>
            <a:ext cx="11457432" cy="36576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UN MODELO ES TAN BUENO COMO SUS DATOS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Calidad de datos y sesgos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Dark vessels: AIS off → GFW subestima; corregir con AIS + SAR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Gaps por nubosidad → productos L4 / gap-filling (DINEOF)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Sesgo de esfuerzo: los partes dicen DÓNDE se pescó, no dónde HAY recurso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Alinear captura con la variable ambiental del mismo día y celda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ENTREGABLE: NOTEBOOK REPRODUCIBLE + FIGURA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Desafío integrador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SST real 1 semana (Copernicus) → anomalía vs climatología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Frente diario por gradiente → cómo migra el frente Malvinas-Brasil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Cruzar con fishing effort de GFW (misma zona/fecha)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¿El esfuerzo sigue al frente o hay retardo? Implicancias para Clase 6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714232" y="0"/>
            <a:ext cx="3474720" cy="6858000"/>
          </a:xfrm>
          <a:prstGeom prst="rect">
            <a:avLst/>
          </a:prstGeom>
          <a:solidFill>
            <a:srgbClr val="7823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utn_frch_neg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"/>
            <a:ext cx="1366857" cy="731520"/>
          </a:xfrm>
          <a:prstGeom prst="rect">
            <a:avLst/>
          </a:prstGeom>
        </p:spPr>
      </p:pic>
      <p:pic>
        <p:nvPicPr>
          <p:cNvPr id="7" name="Picture 6" descr="logo_pesqueros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201168"/>
            <a:ext cx="1981200" cy="594360"/>
          </a:xfrm>
          <a:prstGeom prst="rect">
            <a:avLst/>
          </a:prstGeom>
        </p:spPr>
      </p:pic>
      <p:pic>
        <p:nvPicPr>
          <p:cNvPr id="8" name="Picture 7" descr="logo_ariel_symbo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201168"/>
            <a:ext cx="1981200" cy="5943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65760" y="1078992"/>
            <a:ext cx="8348472" cy="32004"/>
          </a:xfrm>
          <a:prstGeom prst="rect">
            <a:avLst/>
          </a:prstGeom>
          <a:solidFill>
            <a:srgbClr val="009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80160"/>
            <a:ext cx="807415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La capa de datos define el techo del modelo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880360"/>
            <a:ext cx="80741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AC8F0"/>
                </a:solidFill>
                <a:latin typeface="Calibri"/>
              </a:rPr>
              <a:t>Datos y Sensores — Nivel Avanzado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703320"/>
            <a:ext cx="5029200" cy="3200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379476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EE1FF"/>
                </a:solidFill>
                <a:latin typeface="Consolas"/>
              </a:rPr>
              <a:t>github.com/PesquerosEnIA/curso-ia-produccion-pesquera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434840"/>
            <a:ext cx="7772400" cy="822960"/>
          </a:xfrm>
          <a:prstGeom prst="rect">
            <a:avLst/>
          </a:prstGeom>
          <a:solidFill>
            <a:srgbClr val="824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480560"/>
            <a:ext cx="74980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Clase 6: ML y modelos predictivos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88552" y="201168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4D7FF"/>
                </a:solidFill>
                <a:latin typeface="Consolas"/>
              </a:rPr>
              <a:t>github.com/
PesquerosEnIA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382512"/>
            <a:ext cx="80741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A454D"/>
                </a:solidFill>
                <a:latin typeface="Calibri"/>
              </a:rPr>
              <a:t>UTN FRCh  |  PesquerosEnIA  |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