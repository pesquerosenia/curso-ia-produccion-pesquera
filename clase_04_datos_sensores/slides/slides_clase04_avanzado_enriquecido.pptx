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5" r:id="rId16"/>
    <p:sldId id="266" r:id="rId17"/>
    <p:sldId id="267" r:id="rId18"/>
    <p:sldId id="268" r:id="rId19"/>
    <p:sldId id="269" r:id="rId20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7C14B"/>
                </a:solidFill>
                <a:latin typeface="Segoe UI"/>
              </a:rPr>
              <a:t>CLASE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Datos y Sensores del Dominio Pesquero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DDE9F0"/>
                </a:solidFill>
                <a:latin typeface="Segoe UI"/>
              </a:rPr>
              <a:t>Clase 4 · Nivel AVANZADO — Datos reales, frentes e ingeniería de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FFFFF"/>
                </a:solidFill>
                <a:latin typeface="Segoe UI"/>
              </a:rPr>
              <a:t>Docentes: Ariel Giamportone, Soraya Corvalán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Produccion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C14B"/>
                </a:solidFill>
                <a:latin typeface="Calibr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vamos a ver hoy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Ingesta de datos reales (Copernicus, NOAA) + fallback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1554480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836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NetCDF y xarray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Detección de frentes térmicos (gradiente de SST)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2212848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36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Feature engineering ambiental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6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Calidad de datos y sesgos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5916" y="2871216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5916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8836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Desafío integrador: frente ↔ esfuerzo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ESTA CLASE ES LA CAPA DE DATOS QUE ALIMENTA EL MODELADO (CLASE 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Del dato crudo al feature: el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Fuente real → ingesta → limpieza → features → modelo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Patrón robusto: fuente real (credenciales) → fallback sintético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Reproducible en cualquier entorno, incluido Colab sin configurar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DOS FUENTES COMPLEMENTARIAS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Copernicus vs NOAA ERDDAP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969264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496" y="1545336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Copernicus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640" y="1545336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NOAA ERDDAP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78024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514600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Registro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9496" y="2514600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Sí (gratis)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0" y="2514600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47288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483864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Resolución SST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9496" y="3483864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5–9 km (L4)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640" y="3483864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hasta 1 km (MUR)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16552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453128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Acceso 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496" y="4453128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copernicusmarine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8640" y="4453128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erddapy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85816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5422392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Fuerte 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9496" y="5422392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Series L4 sin gaps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8640" y="5422392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Alta resolución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|∇SST| = SQRT(GRAD_LAT² + GRAD_LON²) → UMBRAL P90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Frentes térmicos por gradiente de SST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Los frentes concentran nutrientes y recursos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Convergencia Malvinas-Brasil → agregación de merluza/calamar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El frente es un PREDICTOR de zona, no solo un fenómeno físico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En datos reales: suavizar antes de derivar (ruido de píxel)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LAS CRUDAS RARA VEZ SON LA MEJOR ENTRADA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Feature engineering ambiental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969264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496" y="1545336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640" y="1545336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Aporta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78024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514600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sst_anomalia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9496" y="2514600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SST − media/clima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0" y="2514600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Aísla lo inusual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47288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483864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dist_optimo_termico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9496" y="3483864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|SST − 10 °C|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640" y="3483864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Relación no lineal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16552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453128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indice_habitat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496" y="4453128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f(SST) × f(clorofila)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8640" y="4453128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Combina 2 señales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85816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5422392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intensidad_frente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9496" y="5422392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|∇SST| en la marea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8640" y="5422392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Proxy de frente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UN MODELO ES TAN BUENO COMO SUS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Calidad de datos y sesgos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Dark vessels: AIS off → GFW subestima; corregir con AIS + SAR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Gaps por nubosidad → productos L4 / gap-filling (DINEOF)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Sesgo de esfuerzo: los partes dicen DÓNDE se pescó, no dónde HAY recurso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Alinear captura con la variable ambiental del mismo día y celda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ENTREGABLE: NOTEBOOK REPRODUCIBLE + FIGURA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Desafío integrador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SST real 1 semana (Copernicus) → anomalía vs climatología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Frente diario por gradiente → cómo migra el frente Malvinas-Brasil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Cruzar con fishing effort de GFW (misma zona/fecha)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¿El esfuerzo sigue al frente o hay retardo? Implicancias para Clase 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14232" y="0"/>
            <a:ext cx="3474720" cy="6858000"/>
          </a:xfrm>
          <a:prstGeom prst="rect">
            <a:avLst/>
          </a:prstGeom>
          <a:solidFill>
            <a:srgbClr val="78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"/>
            <a:ext cx="1366857" cy="731520"/>
          </a:xfrm>
          <a:prstGeom prst="rect">
            <a:avLst/>
          </a:prstGeom>
        </p:spPr>
      </p:pic>
      <p:pic>
        <p:nvPicPr>
          <p:cNvPr id="7" name="Picture 6" descr="logo_pesquero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01168"/>
            <a:ext cx="1981200" cy="594360"/>
          </a:xfrm>
          <a:prstGeom prst="rect">
            <a:avLst/>
          </a:prstGeom>
        </p:spPr>
      </p:pic>
      <p:pic>
        <p:nvPicPr>
          <p:cNvPr id="8" name="Picture 7" descr="logo_ariel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01168"/>
            <a:ext cx="1981200" cy="594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078992"/>
            <a:ext cx="8348472" cy="3200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8074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La capa de datos define el techo del 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8074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C8F0"/>
                </a:solidFill>
                <a:latin typeface="Calibri"/>
              </a:rPr>
              <a:t>Datos y Sensores — Nivel Avanzado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5029200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94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E1FF"/>
                </a:solidFill>
                <a:latin typeface="Consolas"/>
              </a:rPr>
              <a:t>github.com/PesquerosEnIA/curso-ia-produccion-pesquera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34840"/>
            <a:ext cx="7772400" cy="822960"/>
          </a:xfrm>
          <a:prstGeom prst="rect">
            <a:avLst/>
          </a:prstGeom>
          <a:solidFill>
            <a:srgbClr val="82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8056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Clase 6: ML y modelos predictivos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011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4D7FF"/>
                </a:solidFill>
                <a:latin typeface="Consolas"/>
              </a:rPr>
              <a:t>github.com/
PesquerosEnIA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82512"/>
            <a:ext cx="8074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54D"/>
                </a:solidFill>
                <a:latin typeface="Calibri"/>
              </a:rPr>
              <a:t>UTN FRCh  |  PesquerosEnIA  | 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4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4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4_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4_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