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74152" y="0"/>
            <a:ext cx="4114800" cy="6858000"/>
          </a:xfrm>
          <a:prstGeom prst="rect">
            <a:avLst/>
          </a:prstGeom>
          <a:solidFill>
            <a:srgbClr val="003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5806440"/>
            <a:ext cx="12188952" cy="9601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5806440"/>
            <a:ext cx="12188952" cy="960120"/>
          </a:xfrm>
          <a:prstGeom prst="rect">
            <a:avLst/>
          </a:prstGeom>
          <a:solidFill>
            <a:srgbClr val="005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utn_frch_neg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"/>
            <a:ext cx="1366857" cy="731520"/>
          </a:xfrm>
          <a:prstGeom prst="rect">
            <a:avLst/>
          </a:prstGeom>
        </p:spPr>
      </p:pic>
      <p:pic>
        <p:nvPicPr>
          <p:cNvPr id="9" name="Picture 8" descr="logo_pesqueros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7112" y="228600"/>
            <a:ext cx="1981200" cy="594360"/>
          </a:xfrm>
          <a:prstGeom prst="rect">
            <a:avLst/>
          </a:prstGeom>
        </p:spPr>
      </p:pic>
      <p:pic>
        <p:nvPicPr>
          <p:cNvPr id="10" name="Picture 9" descr="logo_ariel_symbo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1672" y="228600"/>
            <a:ext cx="1981200" cy="59436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365760" y="1078992"/>
            <a:ext cx="11457432" cy="32004"/>
          </a:xfrm>
          <a:prstGeom prst="rect">
            <a:avLst/>
          </a:prstGeom>
          <a:solidFill>
            <a:srgbClr val="009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23444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99CC"/>
                </a:solidFill>
                <a:latin typeface="Calibri"/>
              </a:rPr>
              <a:t>CLASE 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00200"/>
            <a:ext cx="743407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Cierre, Conclusiones y Hoja de Ruta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3794760"/>
            <a:ext cx="74340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Calibri"/>
              </a:rPr>
              <a:t>Clase 10 · Nivel INTERMEDIO — Síntesis y hoja de ruta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8472" y="228600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B4D2F0"/>
                </a:solidFill>
                <a:latin typeface="Calibri"/>
              </a:rPr>
              <a:t>IA · Pesca · Datos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8472" y="310896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6BEE6"/>
                </a:solidFill>
                <a:latin typeface="Calibri"/>
              </a:rPr>
              <a:t>UTN FRCh + PesquerosEnIA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5897880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Docentes: ['Soraya Corvalán', 'Ariel Giamportone']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309360"/>
            <a:ext cx="113659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EDCFA"/>
                </a:solidFill>
                <a:latin typeface="Calibri"/>
              </a:rPr>
              <a:t>Inteligencia Artificial Aplicada a la Produccion Pesquera  |  UTN FRCh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99CC"/>
                </a:solidFill>
                <a:latin typeface="Calibri"/>
              </a:rPr>
              <a:t>AGENDA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02920"/>
            <a:ext cx="112745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Lo que vamos a ver hoy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Síntesis: de los datos a las decisiones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5916" y="1554480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85916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88836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Matriz de viabilidad de IA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212848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Hoja de ruta por perfil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5916" y="2212848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5916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88836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La comunidad PesquerosEnIA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871216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84378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825496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Proyecto integrador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85916" y="2871216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5916" y="284378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88836" y="2825496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IA ética y sostenible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CADA CLASE CONSTRUYÓ SOBRE LA ANTERIOR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El hilo conductor del curso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Datos → Comprensión → Modelos → Decisiones → Impacto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C4 datos · C6 predicción · C8 optimización · C9 dashboards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De coordenada GPS a decisión de política/negocio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El poder de la cadena datos → IA → decisiones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QUÉ IMPLEMENTAR Y CUÁNDO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Matriz de viabilidad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1457432" cy="969264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45336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Aplicación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9068" y="1545336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Recomendación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78024"/>
            <a:ext cx="11457432" cy="96926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2514600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Predicción de zonas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59068" y="2514600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Implementar ahora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47288"/>
            <a:ext cx="11457432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3483864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Asistentes LLM / dashboards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9068" y="3483864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Implementar ahora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416552"/>
            <a:ext cx="11457432" cy="96926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4453128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Optimización de rutas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9068" y="4453128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6–12 meses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385816"/>
            <a:ext cx="11457432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5422392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Visión en planta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9068" y="5422392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Proyecto piloto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6336792"/>
            <a:ext cx="11457432" cy="36576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SEGÚN TU 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Hoja de ruta por perfil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Técnico-operativo: LLMs, Power BI, Python básico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Científico-académico: Python científico, ML, datos abiertos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Gestor/regulador: dashboards, IA para decisores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Recursos gratuitos: PesquerosEnIA, Colab, Kaggle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PRINCIPIO FUNDAMENTAL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IA ética y sostenible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Operar DENTRO de cuotas, vedas y tallas mínimas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Cuidado con sesgos de los datos históricos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Privacidad de datos AIS/VMS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La IA amplifica, no reemplaza, el capital humano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714232" y="0"/>
            <a:ext cx="3474720" cy="6858000"/>
          </a:xfrm>
          <a:prstGeom prst="rect">
            <a:avLst/>
          </a:prstGeom>
          <a:solidFill>
            <a:srgbClr val="003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utn_frch_neg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"/>
            <a:ext cx="1366857" cy="731520"/>
          </a:xfrm>
          <a:prstGeom prst="rect">
            <a:avLst/>
          </a:prstGeom>
        </p:spPr>
      </p:pic>
      <p:pic>
        <p:nvPicPr>
          <p:cNvPr id="7" name="Picture 6" descr="logo_pesqueros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201168"/>
            <a:ext cx="1981200" cy="594360"/>
          </a:xfrm>
          <a:prstGeom prst="rect">
            <a:avLst/>
          </a:prstGeom>
        </p:spPr>
      </p:pic>
      <p:pic>
        <p:nvPicPr>
          <p:cNvPr id="8" name="Picture 7" descr="logo_ariel_symbo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201168"/>
            <a:ext cx="1981200" cy="5943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65760" y="1078992"/>
            <a:ext cx="8348472" cy="32004"/>
          </a:xfrm>
          <a:prstGeom prst="rect">
            <a:avLst/>
          </a:prstGeom>
          <a:solidFill>
            <a:srgbClr val="009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80160"/>
            <a:ext cx="807415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Dónde seguir, cómo aplicarlo, cómo contribuir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880360"/>
            <a:ext cx="80741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99CC"/>
                </a:solidFill>
                <a:latin typeface="Calibri"/>
              </a:rPr>
              <a:t>PesquerosEnIA te espera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703320"/>
            <a:ext cx="5029200" cy="3200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379476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EE1FF"/>
                </a:solidFill>
                <a:latin typeface="Consolas"/>
              </a:rPr>
              <a:t>github.com/PesquerosEnIA/curso-ia-produccion-pesquera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88552" y="201168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4D7FF"/>
                </a:solidFill>
                <a:latin typeface="Consolas"/>
              </a:rPr>
              <a:t>github.com/
PesquerosEnIA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382512"/>
            <a:ext cx="80741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0C8F0"/>
                </a:solidFill>
                <a:latin typeface="Calibri"/>
              </a:rPr>
              <a:t>UTN FRCh  |  PesquerosEnIA  |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